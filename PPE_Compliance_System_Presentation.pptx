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3143A"/>
          </a:solidFill>
          <a:ln w="12700">
            <a:solidFill>
              <a:srgbClr val="1314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731520"/>
            <a:ext cx="2286000" cy="2286000"/>
          </a:xfrm>
          <a:prstGeom prst="ellipse">
            <a:avLst/>
          </a:prstGeom>
          <a:solidFill>
            <a:srgbClr val="4F46E5"/>
          </a:solidFill>
          <a:ln w="381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9601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dirty="0">
                <a:solidFill>
                  <a:srgbClr val="000000"/>
                </a:solidFill>
              </a:rPr>
              <a:t>🦺</a:t>
            </a:r>
            <a:endParaRPr lang="en-US" sz="6800" dirty="0"/>
          </a:p>
        </p:txBody>
      </p:sp>
      <p:sp>
        <p:nvSpPr>
          <p:cNvPr id="6" name="Shape 4"/>
          <p:cNvSpPr/>
          <p:nvPr/>
        </p:nvSpPr>
        <p:spPr>
          <a:xfrm>
            <a:off x="1463040" y="3246120"/>
            <a:ext cx="2103120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32461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CSE  ·  RGIPT  · 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Kunal Kumar Gupta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23MC3035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1371600"/>
            <a:ext cx="6858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54864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AI-Powered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212080" y="128016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PPE Compliance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5212080" y="201168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System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212080" y="292608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Industrial Safety for Tata Steel Manufacturing Environments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12080" y="3657600"/>
            <a:ext cx="438912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365760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"Zero tolerance for non-compliance"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212080" y="4846320"/>
            <a:ext cx="1572768" cy="1005840"/>
          </a:xfrm>
          <a:prstGeom prst="rect">
            <a:avLst/>
          </a:prstGeom>
          <a:solidFill>
            <a:srgbClr val="1E1F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489204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212080" y="537667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Stages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76288" y="4846320"/>
            <a:ext cx="1572768" cy="1005840"/>
          </a:xfrm>
          <a:prstGeom prst="rect">
            <a:avLst/>
          </a:prstGeom>
          <a:solidFill>
            <a:srgbClr val="1E1F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76288" y="489204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0.978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76288" y="537667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40496" y="4846320"/>
            <a:ext cx="1572768" cy="1005840"/>
          </a:xfrm>
          <a:prstGeom prst="rect">
            <a:avLst/>
          </a:prstGeom>
          <a:solidFill>
            <a:srgbClr val="1E1F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0496" y="489204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540496" y="537667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Classes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204704" y="4846320"/>
            <a:ext cx="1572768" cy="1005840"/>
          </a:xfrm>
          <a:prstGeom prst="rect">
            <a:avLst/>
          </a:prstGeom>
          <a:solidFill>
            <a:srgbClr val="1E1F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04704" y="489204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&lt;1s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0204704" y="537667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Latency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155680" y="6510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411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510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0" y="822960"/>
            <a:ext cx="3474720" cy="1828800"/>
          </a:xfrm>
          <a:prstGeom prst="rect">
            <a:avLst/>
          </a:prstGeom>
          <a:solidFill>
            <a:srgbClr val="1A0A0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9144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2.3M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412480" y="1783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occupational deaths / year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0" y="2331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ILO Global Estimates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960120"/>
            <a:ext cx="7680960" cy="1417320"/>
          </a:xfrm>
          <a:prstGeom prst="rect">
            <a:avLst/>
          </a:prstGeom>
          <a:solidFill>
            <a:srgbClr val="1E1F3B"/>
          </a:solidFill>
          <a:ln w="12700">
            <a:solidFill>
              <a:srgbClr val="2E2F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960120"/>
            <a:ext cx="73152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051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👷  Manual Monitoring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94360" y="146304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guards checking PPE at entry points — slow, inconsistent, and prone to human error. Coverage is limited to single checkpoints.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7680960" cy="1417320"/>
          </a:xfrm>
          <a:prstGeom prst="rect">
            <a:avLst/>
          </a:prstGeom>
          <a:solidFill>
            <a:srgbClr val="1E1F3B"/>
          </a:solidFill>
          <a:ln w="12700">
            <a:solidFill>
              <a:srgbClr val="2E2F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60320"/>
            <a:ext cx="73152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51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⏱️  Delayed Response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4360" y="306324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detected minutes or hours later via CCTV review — not in real-time. Workers at risk during the gap between violation and intervention.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65760" y="4160520"/>
            <a:ext cx="7680960" cy="1417320"/>
          </a:xfrm>
          <a:prstGeom prst="rect">
            <a:avLst/>
          </a:prstGeom>
          <a:solidFill>
            <a:srgbClr val="1E1F3B"/>
          </a:solidFill>
          <a:ln w="12700">
            <a:solidFill>
              <a:srgbClr val="2E2F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4160520"/>
            <a:ext cx="73152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251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No Analytics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94360" y="466344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historical data, no per-worker tracking, no pattern analysis. Safety managers cannot identify repeat offenders or high-risk zones.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65760" y="5897880"/>
            <a:ext cx="11430000" cy="475488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897880"/>
            <a:ext cx="11247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solutions are expensive, non-real-time, and limited to a single camera angle — unsuitable for large manufacturing floors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510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1430000" cy="658368"/>
          </a:xfrm>
          <a:prstGeom prst="rect">
            <a:avLst/>
          </a:prstGeom>
          <a:solidFill>
            <a:srgbClr val="0A1A10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1430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violation to alert in under 1 second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2743200" cy="4434840"/>
          </a:xfrm>
          <a:prstGeom prst="rect">
            <a:avLst/>
          </a:prstGeom>
          <a:solidFill>
            <a:srgbClr val="1E1F3B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28800"/>
            <a:ext cx="2743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65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Dual-Model AI Pipeline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" y="3273552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— person detection (COCO pretrained)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 — custom PPE detection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· Safety Vest · Goggles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IoU-based spatial association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46120" y="1828800"/>
            <a:ext cx="2743200" cy="4434840"/>
          </a:xfrm>
          <a:prstGeom prst="rect">
            <a:avLst/>
          </a:prstGeom>
          <a:solidFill>
            <a:srgbClr val="1E1F3B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828800"/>
            <a:ext cx="2743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965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🔔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337560" y="2651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 Alert System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10712" y="3273552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Per-worker streak tracking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fires in &lt; 8 non-compliant frames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Auto-screenshot with every alert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via Meta Cloud API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26480" y="1828800"/>
            <a:ext cx="2743200" cy="4434840"/>
          </a:xfrm>
          <a:prstGeom prst="rect">
            <a:avLst/>
          </a:prstGeom>
          <a:solidFill>
            <a:srgbClr val="1E1F3B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828800"/>
            <a:ext cx="2743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965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217920" y="2651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Dashboard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91072" y="3273552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WebSocket backend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violation feed &lt; 1s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cards + screenshot viewer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Dark-theme SPA — no build step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006840" y="1828800"/>
            <a:ext cx="2743200" cy="4434840"/>
          </a:xfrm>
          <a:prstGeom prst="rect">
            <a:avLst/>
          </a:prstGeom>
          <a:solidFill>
            <a:srgbClr val="1E1F3B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06840" y="1828800"/>
            <a:ext cx="2743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06840" y="1965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🏭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9098280" y="2651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Ready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71432" y="3273552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via cameras.yaml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WAL for concurrent writes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CPU + NVIDIA GPU builds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/ ONNX / TensorRT export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— 7-Stage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510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1417320" cy="1554480"/>
          </a:xfrm>
          <a:prstGeom prst="rect">
            <a:avLst/>
          </a:prstGeom>
          <a:solidFill>
            <a:srgbClr val="1E1F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828800"/>
            <a:ext cx="14173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3312" y="1664208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3312" y="1664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96596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📹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5760" y="260604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783080" y="2606040"/>
            <a:ext cx="17526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02308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6F1"/>
                </a:solidFill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004060" y="1828800"/>
            <a:ext cx="1417320" cy="1554480"/>
          </a:xfrm>
          <a:prstGeom prst="rect">
            <a:avLst/>
          </a:prstGeom>
          <a:solidFill>
            <a:srgbClr val="1E1F3B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04060" y="1828800"/>
            <a:ext cx="141732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37332" y="1664208"/>
            <a:ext cx="347472" cy="3474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37332" y="1664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04060" y="196596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049780" y="260604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467100" y="2606040"/>
            <a:ext cx="17526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6328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6F1"/>
                </a:solidFill>
              </a:rPr>
              <a:t>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88080" y="1828800"/>
            <a:ext cx="1417320" cy="1554480"/>
          </a:xfrm>
          <a:prstGeom prst="rect">
            <a:avLst/>
          </a:prstGeom>
          <a:solidFill>
            <a:srgbClr val="1E1F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88080" y="1828800"/>
            <a:ext cx="14173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21352" y="1664208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1352" y="1664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88080" y="196596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🦺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733800" y="260604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151120" y="2606040"/>
            <a:ext cx="17526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0348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6F1"/>
                </a:solidFill>
              </a:rPr>
              <a:t>▶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372100" y="1828800"/>
            <a:ext cx="1417320" cy="1554480"/>
          </a:xfrm>
          <a:prstGeom prst="rect">
            <a:avLst/>
          </a:prstGeom>
          <a:solidFill>
            <a:srgbClr val="1E1F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72100" y="1828800"/>
            <a:ext cx="141732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5372" y="1664208"/>
            <a:ext cx="347472" cy="3474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5372" y="1664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72100" y="196596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5417820" y="260604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835140" y="2606040"/>
            <a:ext cx="17526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54368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6F1"/>
                </a:solidFill>
              </a:rPr>
              <a:t>▶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056120" y="1828800"/>
            <a:ext cx="1417320" cy="1554480"/>
          </a:xfrm>
          <a:prstGeom prst="rect">
            <a:avLst/>
          </a:prstGeom>
          <a:solidFill>
            <a:srgbClr val="1E1F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56120" y="1828800"/>
            <a:ext cx="14173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89392" y="1664208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89392" y="1664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056120" y="196596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🚨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7101840" y="260604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519160" y="2606040"/>
            <a:ext cx="17526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38388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6F1"/>
                </a:solidFill>
              </a:rPr>
              <a:t>▶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740140" y="1828800"/>
            <a:ext cx="1417320" cy="1554480"/>
          </a:xfrm>
          <a:prstGeom prst="rect">
            <a:avLst/>
          </a:prstGeom>
          <a:solidFill>
            <a:srgbClr val="1E1F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740140" y="1828800"/>
            <a:ext cx="14173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773412" y="166420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773412" y="1664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740140" y="196596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51" name="Text 49"/>
          <p:cNvSpPr/>
          <p:nvPr/>
        </p:nvSpPr>
        <p:spPr>
          <a:xfrm>
            <a:off x="8785860" y="260604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+ WA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10203180" y="2606040"/>
            <a:ext cx="17526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122408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6F1"/>
                </a:solidFill>
              </a:rPr>
              <a:t>▶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10424160" y="1828800"/>
            <a:ext cx="1417320" cy="1554480"/>
          </a:xfrm>
          <a:prstGeom prst="rect">
            <a:avLst/>
          </a:prstGeom>
          <a:solidFill>
            <a:srgbClr val="1E1F3B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424160" y="1828800"/>
            <a:ext cx="14173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457432" y="166420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457432" y="1664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424160" y="196596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59" name="Text 57"/>
          <p:cNvSpPr/>
          <p:nvPr/>
        </p:nvSpPr>
        <p:spPr>
          <a:xfrm>
            <a:off x="10469880" y="260604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338328" y="3456432"/>
            <a:ext cx="1380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/ MP4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RTSP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2022348" y="3456432"/>
            <a:ext cx="1380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(COCO)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3706368" y="3456432"/>
            <a:ext cx="1380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(custom)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390388" y="3456432"/>
            <a:ext cx="1380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IoU-based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7074408" y="3456432"/>
            <a:ext cx="1380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8758428" y="3456432"/>
            <a:ext cx="1380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Meta API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10442448" y="3456432"/>
            <a:ext cx="1380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WS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320040" y="5212080"/>
            <a:ext cx="3794760" cy="548640"/>
          </a:xfrm>
          <a:prstGeom prst="rect">
            <a:avLst/>
          </a:prstGeom>
          <a:solidFill>
            <a:srgbClr val="0A0A1E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0040" y="5212080"/>
            <a:ext cx="64008" cy="5486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523036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processes share one SQLite DB via WAL mode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4297680" y="5212080"/>
            <a:ext cx="3794760" cy="548640"/>
          </a:xfrm>
          <a:prstGeom prst="rect">
            <a:avLst/>
          </a:prstGeom>
          <a:solidFill>
            <a:srgbClr val="0A0A1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297680" y="5212080"/>
            <a:ext cx="64008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434840" y="523036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decision made per-frame, per-worker, in-process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8275320" y="5212080"/>
            <a:ext cx="3794760" cy="548640"/>
          </a:xfrm>
          <a:prstGeom prst="rect">
            <a:avLst/>
          </a:prstGeom>
          <a:solidFill>
            <a:srgbClr val="0A0A1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275320" y="5212080"/>
            <a:ext cx="6400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412480" y="523036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alerts fire asynchronously — pipeline never blocks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Model Training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510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5394960" cy="5303520"/>
          </a:xfrm>
          <a:prstGeom prst="rect">
            <a:avLst/>
          </a:prstGeom>
          <a:solidFill>
            <a:srgbClr val="1E1F3B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53949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Dataset Composition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02920" y="1691640"/>
            <a:ext cx="5120640" cy="658368"/>
          </a:xfrm>
          <a:prstGeom prst="rect">
            <a:avLst/>
          </a:prstGeom>
          <a:solidFill>
            <a:srgbClr val="131435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37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68880" y="180136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Roboflow datasets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496312"/>
            <a:ext cx="5120640" cy="658368"/>
          </a:xfrm>
          <a:prstGeom prst="rect">
            <a:avLst/>
          </a:prstGeom>
          <a:solidFill>
            <a:srgbClr val="131435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54203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30,473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68880" y="2606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 (640×640)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300984"/>
            <a:ext cx="5120640" cy="658368"/>
          </a:xfrm>
          <a:prstGeom prst="rect">
            <a:avLst/>
          </a:prstGeom>
          <a:solidFill>
            <a:srgbClr val="131435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4670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468880" y="34107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Helmet · Safety Vest · Goggles · Gloves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4105656"/>
            <a:ext cx="5120640" cy="658368"/>
          </a:xfrm>
          <a:prstGeom prst="rect">
            <a:avLst/>
          </a:prstGeom>
          <a:solidFill>
            <a:srgbClr val="131435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15137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468880" y="421538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images (test)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4910328"/>
            <a:ext cx="5120640" cy="658368"/>
          </a:xfrm>
          <a:prstGeom prst="rect">
            <a:avLst/>
          </a:prstGeom>
          <a:solidFill>
            <a:srgbClr val="131435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9560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366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468880" y="502005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Test-split images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5715000"/>
            <a:ext cx="5120640" cy="384048"/>
          </a:xfrm>
          <a:prstGeom prst="rect">
            <a:avLst/>
          </a:prstGeom>
          <a:solidFill>
            <a:srgbClr val="0A0A2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7150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Roboflow Universe, custom CCTV footage (Tata Steel)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26480" y="914400"/>
            <a:ext cx="5669280" cy="5303520"/>
          </a:xfrm>
          <a:prstGeom prst="rect">
            <a:avLst/>
          </a:prstGeom>
          <a:solidFill>
            <a:srgbClr val="1E1F3B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914400"/>
            <a:ext cx="56692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0058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Training Configuration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263640" y="1691640"/>
            <a:ext cx="5394960" cy="493776"/>
          </a:xfrm>
          <a:prstGeom prst="rect">
            <a:avLst/>
          </a:prstGeom>
          <a:solidFill>
            <a:srgbClr val="131435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73736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21040" y="173736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 (custom fine-tuned)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63640" y="2258568"/>
            <a:ext cx="5394960" cy="493776"/>
          </a:xfrm>
          <a:prstGeom prst="rect">
            <a:avLst/>
          </a:prstGeom>
          <a:solidFill>
            <a:srgbClr val="131435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230428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21040" y="230428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63640" y="2825496"/>
            <a:ext cx="5394960" cy="493776"/>
          </a:xfrm>
          <a:prstGeom prst="rect">
            <a:avLst/>
          </a:prstGeom>
          <a:solidFill>
            <a:srgbClr val="131435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287121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321040" y="287121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63640" y="3392424"/>
            <a:ext cx="5394960" cy="493776"/>
          </a:xfrm>
          <a:prstGeom prst="rect">
            <a:avLst/>
          </a:prstGeom>
          <a:solidFill>
            <a:srgbClr val="131435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343814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321040" y="343814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+ cosine LR decay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263640" y="3959352"/>
            <a:ext cx="5394960" cy="493776"/>
          </a:xfrm>
          <a:prstGeom prst="rect">
            <a:avLst/>
          </a:prstGeom>
          <a:solidFill>
            <a:srgbClr val="131435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400507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Augmentation: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321040" y="400507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mosaic, flip, scale, hsv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263640" y="4526280"/>
            <a:ext cx="5394960" cy="493776"/>
          </a:xfrm>
          <a:prstGeom prst="rect">
            <a:avLst/>
          </a:prstGeom>
          <a:solidFill>
            <a:srgbClr val="131435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457200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HW: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321040" y="457200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RTX A5000 (Windows)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263640" y="5093208"/>
            <a:ext cx="5394960" cy="493776"/>
          </a:xfrm>
          <a:prstGeom prst="rect">
            <a:avLst/>
          </a:prstGeom>
          <a:solidFill>
            <a:srgbClr val="131435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513892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HW: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321040" y="513892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M1 Pro MPS (macOS)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263640" y="5660136"/>
            <a:ext cx="5394960" cy="493776"/>
          </a:xfrm>
          <a:prstGeom prst="rect">
            <a:avLst/>
          </a:prstGeom>
          <a:solidFill>
            <a:srgbClr val="131435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0" y="570585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321040" y="570585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 ms/image on CPU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Performance — Test Split (366 Images)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510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32688"/>
            <a:ext cx="2743200" cy="1143000"/>
          </a:xfrm>
          <a:prstGeom prst="rect">
            <a:avLst/>
          </a:prstGeom>
          <a:solidFill>
            <a:srgbClr val="1E1F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0.978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16824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932688"/>
            <a:ext cx="2743200" cy="1143000"/>
          </a:xfrm>
          <a:prstGeom prst="rect">
            <a:avLst/>
          </a:prstGeom>
          <a:solidFill>
            <a:srgbClr val="1E1F3B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0.980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246120" y="16824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932688"/>
            <a:ext cx="2743200" cy="1143000"/>
          </a:xfrm>
          <a:prstGeom prst="rect">
            <a:avLst/>
          </a:prstGeom>
          <a:solidFill>
            <a:srgbClr val="1E1F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005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0.970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126480" y="16824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06840" y="932688"/>
            <a:ext cx="2743200" cy="1143000"/>
          </a:xfrm>
          <a:prstGeom prst="rect">
            <a:avLst/>
          </a:prstGeom>
          <a:solidFill>
            <a:srgbClr val="1E1F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06840" y="1005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0.781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9006840" y="16824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mAP@0.5:0.95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23317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Per-Class Results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8229600" cy="640080"/>
          </a:xfrm>
          <a:prstGeom prst="rect">
            <a:avLst/>
          </a:prstGeom>
          <a:solidFill>
            <a:srgbClr val="1E1F3B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443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Goggles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560320" y="2971800"/>
            <a:ext cx="4402836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08876" y="297180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0.988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0" y="2944368"/>
            <a:ext cx="2011680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94436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 ✓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5760" y="3931920"/>
            <a:ext cx="8229600" cy="640080"/>
          </a:xfrm>
          <a:prstGeom prst="rect">
            <a:avLst/>
          </a:prstGeom>
          <a:solidFill>
            <a:srgbClr val="1E1F3B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04164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Vest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2560320" y="4069080"/>
            <a:ext cx="404622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52260" y="406908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0.994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0800" y="4041648"/>
            <a:ext cx="2011680" cy="40233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04164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 ✓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65760" y="5029200"/>
            <a:ext cx="8229600" cy="640080"/>
          </a:xfrm>
          <a:prstGeom prst="rect">
            <a:avLst/>
          </a:prstGeom>
          <a:solidFill>
            <a:srgbClr val="1E1F3B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51389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2560320" y="5166360"/>
            <a:ext cx="385876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64808" y="516636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0.952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0800" y="5138928"/>
            <a:ext cx="201168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513892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961120" y="2331720"/>
            <a:ext cx="2834640" cy="3794760"/>
          </a:xfrm>
          <a:prstGeom prst="rect">
            <a:avLst/>
          </a:prstGeom>
          <a:solidFill>
            <a:srgbClr val="1E1F3B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61120" y="2331720"/>
            <a:ext cx="283464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52560" y="24231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Config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098280" y="29260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images: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515600" y="29260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098280" y="34290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Backgrounds: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515600" y="34290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098280" y="393192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threshold: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515600" y="393192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098280" y="44348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threshold: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515600" y="443484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098280" y="49377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time: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515600" y="493776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 ms/img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098280" y="54406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0515600" y="54406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Pro CPU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766560" y="281635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target = 0.850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 — Intelligent Alert Engine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411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510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389120" cy="713232"/>
          </a:xfrm>
          <a:prstGeom prst="rect">
            <a:avLst/>
          </a:prstGeom>
          <a:solidFill>
            <a:srgbClr val="1E1F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54864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5156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88720" y="113385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detected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1719072"/>
            <a:ext cx="43891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892808"/>
            <a:ext cx="4389120" cy="713232"/>
          </a:xfrm>
          <a:prstGeom prst="rect">
            <a:avLst/>
          </a:prstGeom>
          <a:solidFill>
            <a:srgbClr val="1E1F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892808"/>
            <a:ext cx="54864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38528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88720" y="202082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checked (IoU)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" y="2606040"/>
            <a:ext cx="43891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779776"/>
            <a:ext cx="4389120" cy="713232"/>
          </a:xfrm>
          <a:prstGeom prst="rect">
            <a:avLst/>
          </a:prstGeom>
          <a:solidFill>
            <a:srgbClr val="1E1F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79776"/>
            <a:ext cx="54864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25496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88720" y="290779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Non-compliant frame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65760" y="3493008"/>
            <a:ext cx="43891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666744"/>
            <a:ext cx="4389120" cy="713232"/>
          </a:xfrm>
          <a:prstGeom prst="rect">
            <a:avLst/>
          </a:prstGeom>
          <a:solidFill>
            <a:srgbClr val="1E1F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666744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12464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🔢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188720" y="3794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count +1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65760" y="4379976"/>
            <a:ext cx="43891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553712"/>
            <a:ext cx="4389120" cy="713232"/>
          </a:xfrm>
          <a:prstGeom prst="rect">
            <a:avLst/>
          </a:prstGeom>
          <a:solidFill>
            <a:srgbClr val="1E1F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553712"/>
            <a:ext cx="54864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599432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🚨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188720" y="468172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fires @ N frames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65760" y="5266944"/>
            <a:ext cx="43891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5440680"/>
            <a:ext cx="4389120" cy="713232"/>
          </a:xfrm>
          <a:prstGeom prst="rect">
            <a:avLst/>
          </a:prstGeom>
          <a:solidFill>
            <a:srgbClr val="1E1F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5440680"/>
            <a:ext cx="54864" cy="713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548640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📸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188720" y="556869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+ WhatsApp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212080" y="1005840"/>
            <a:ext cx="3291840" cy="2331720"/>
          </a:xfrm>
          <a:prstGeom prst="rect">
            <a:avLst/>
          </a:prstGeom>
          <a:solidFill>
            <a:srgbClr val="1E1F3B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12080" y="1005840"/>
            <a:ext cx="32918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10972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⏱️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5321808" y="1783080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0.67 s to alert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321808" y="2304288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fires after 20 consecutive non-compliant frames at 30 FPS — under two-thirds of a second from first violation.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641080" y="1005840"/>
            <a:ext cx="3291840" cy="2331720"/>
          </a:xfrm>
          <a:prstGeom prst="rect">
            <a:avLst/>
          </a:prstGeom>
          <a:solidFill>
            <a:srgbClr val="1E1F3B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41080" y="1005840"/>
            <a:ext cx="32918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41080" y="10972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8750808" y="1783080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60-second cooldown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750808" y="2304288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Per-worker cooldown prevents alert spam. Same worker re-triggers only after 60 seconds of continued violation.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5212080" y="3566160"/>
            <a:ext cx="3291840" cy="2331720"/>
          </a:xfrm>
          <a:prstGeom prst="rect">
            <a:avLst/>
          </a:prstGeom>
          <a:solidFill>
            <a:srgbClr val="1E1F3B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12080" y="3566160"/>
            <a:ext cx="32918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12080" y="36576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📍</a:t>
            </a:r>
            <a:endParaRPr lang="en-US" sz="3200" dirty="0"/>
          </a:p>
        </p:txBody>
      </p:sp>
      <p:sp>
        <p:nvSpPr>
          <p:cNvPr id="48" name="Text 46"/>
          <p:cNvSpPr/>
          <p:nvPr/>
        </p:nvSpPr>
        <p:spPr>
          <a:xfrm>
            <a:off x="5321808" y="4343400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Spatial hash IDs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5321808" y="4864608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are identified by their bounding-box centroid grid cell — no ByteTracker dependency. Works reliably at fixed camera angles.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8641080" y="3566160"/>
            <a:ext cx="3291840" cy="2331720"/>
          </a:xfrm>
          <a:prstGeom prst="rect">
            <a:avLst/>
          </a:prstGeom>
          <a:solidFill>
            <a:srgbClr val="1E1F3B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641080" y="3566160"/>
            <a:ext cx="32918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41080" y="36576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🎨</a:t>
            </a:r>
            <a:endParaRPr lang="en-US" sz="3200" dirty="0"/>
          </a:p>
        </p:txBody>
      </p:sp>
      <p:sp>
        <p:nvSpPr>
          <p:cNvPr id="53" name="Text 51"/>
          <p:cNvSpPr/>
          <p:nvPr/>
        </p:nvSpPr>
        <p:spPr>
          <a:xfrm>
            <a:off x="8750808" y="4343400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HUD + flash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8750808" y="4864608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window shows red flash border on alert, per-worker boxes annotated with compliance status and missing PPE labels.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Dashboard — FastAPI + WebSocket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510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6858000" cy="5349240"/>
          </a:xfrm>
          <a:prstGeom prst="rect">
            <a:avLst/>
          </a:prstGeom>
          <a:solidFill>
            <a:srgbClr val="0D0E23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6858000" cy="411480"/>
          </a:xfrm>
          <a:prstGeom prst="rect">
            <a:avLst/>
          </a:prstGeom>
          <a:solidFill>
            <a:srgbClr val="16174A"/>
          </a:solidFill>
          <a:ln w="12700">
            <a:solidFill>
              <a:srgbClr val="1617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784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🦺  PPE Compliance Monitor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024128"/>
            <a:ext cx="1097280" cy="292608"/>
          </a:xfrm>
          <a:prstGeom prst="rect">
            <a:avLst/>
          </a:prstGeom>
          <a:solidFill>
            <a:srgbClr val="2D0E0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02412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 Clear All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463040"/>
            <a:ext cx="1572768" cy="685800"/>
          </a:xfrm>
          <a:prstGeom prst="rect">
            <a:avLst/>
          </a:prstGeom>
          <a:solidFill>
            <a:srgbClr val="1E1F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49047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" y="1837944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67128" y="1463040"/>
            <a:ext cx="1572768" cy="685800"/>
          </a:xfrm>
          <a:prstGeom prst="rect">
            <a:avLst/>
          </a:prstGeom>
          <a:solidFill>
            <a:srgbClr val="1E1F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67128" y="149047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167128" y="1837944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31336" y="1463040"/>
            <a:ext cx="1572768" cy="685800"/>
          </a:xfrm>
          <a:prstGeom prst="rect">
            <a:avLst/>
          </a:prstGeom>
          <a:solidFill>
            <a:srgbClr val="1E1F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31336" y="149047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831336" y="1837944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95544" y="1463040"/>
            <a:ext cx="1572768" cy="685800"/>
          </a:xfrm>
          <a:prstGeom prst="rect">
            <a:avLst/>
          </a:prstGeom>
          <a:solidFill>
            <a:srgbClr val="1E1F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95544" y="149047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95544" y="1837944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286000"/>
            <a:ext cx="6675120" cy="274320"/>
          </a:xfrm>
          <a:prstGeom prst="rect">
            <a:avLst/>
          </a:prstGeom>
          <a:solidFill>
            <a:srgbClr val="1A1B45"/>
          </a:solidFill>
          <a:ln w="12700">
            <a:solidFill>
              <a:srgbClr val="1A1B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304288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            Worker ID      Missing PPE                  Severity      Screenshot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624328"/>
            <a:ext cx="6675120" cy="475488"/>
          </a:xfrm>
          <a:prstGeom prst="rect">
            <a:avLst/>
          </a:prstGeom>
          <a:solidFill>
            <a:srgbClr val="131435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268833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14:32:11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91640" y="268833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W-03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68880" y="26883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helmet, safety_vest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120640" y="2715768"/>
            <a:ext cx="118872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71576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46520" y="2679192"/>
            <a:ext cx="566928" cy="365760"/>
          </a:xfrm>
          <a:prstGeom prst="rect">
            <a:avLst/>
          </a:prstGeom>
          <a:solidFill>
            <a:srgbClr val="1A080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2679192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🖼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" y="3172968"/>
            <a:ext cx="6675120" cy="475488"/>
          </a:xfrm>
          <a:prstGeom prst="rect">
            <a:avLst/>
          </a:prstGeom>
          <a:solidFill>
            <a:srgbClr val="1E1F3B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323697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14:31:55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691640" y="323697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W-01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468880" y="32369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safety_vest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120640" y="3264408"/>
            <a:ext cx="118872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326440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46520" y="3227832"/>
            <a:ext cx="566928" cy="365760"/>
          </a:xfrm>
          <a:prstGeom prst="rect">
            <a:avLst/>
          </a:prstGeom>
          <a:solidFill>
            <a:srgbClr val="1A080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3227832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🖼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57200" y="3721608"/>
            <a:ext cx="6675120" cy="475488"/>
          </a:xfrm>
          <a:prstGeom prst="rect">
            <a:avLst/>
          </a:prstGeom>
          <a:solidFill>
            <a:srgbClr val="131435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378561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14:30:48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691640" y="378561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W-05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468880" y="37856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goggles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120640" y="3813048"/>
            <a:ext cx="118872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0640" y="381304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446520" y="3776472"/>
            <a:ext cx="566928" cy="365760"/>
          </a:xfrm>
          <a:prstGeom prst="rect">
            <a:avLst/>
          </a:prstGeom>
          <a:solidFill>
            <a:srgbClr val="1A080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46520" y="3776472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🖼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57200" y="4361688"/>
            <a:ext cx="6675120" cy="320040"/>
          </a:xfrm>
          <a:prstGeom prst="rect">
            <a:avLst/>
          </a:prstGeom>
          <a:solidFill>
            <a:srgbClr val="0A1A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4361688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 –  WebSocket connected  –  Last update: 0.3s ago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89520" y="960120"/>
            <a:ext cx="4206240" cy="5349240"/>
          </a:xfrm>
          <a:prstGeom prst="rect">
            <a:avLst/>
          </a:prstGeom>
          <a:solidFill>
            <a:srgbClr val="1E1F3B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589520" y="960120"/>
            <a:ext cx="420624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2668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Features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680960" y="16459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🔴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8183880" y="16642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 updates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183880" y="19202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alerts appear in &lt; 1 second without page refresh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7680960" y="22860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8183880" y="23042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cards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183880" y="25603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Critical, Warnings, Today's count auto-refreshed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7680960" y="29260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🦺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8183880" y="29443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breakdown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8183880" y="32004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No-helmet / No-vest / No-goggles individual counters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7680960" y="35661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🖼️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8183880" y="35844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viewer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8183880" y="38404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row to open full screenshot in a modal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7680960" y="42062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8183880" y="42245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filter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8183880" y="4480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table by CRITICAL / WARNING severity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7680960" y="48463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8183880" y="48646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table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8183880" y="51206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 history with start times and DB row counts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7680960" y="54864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🌑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8183880" y="55046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SPA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8183880" y="57607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CDN — no build step, works in any browser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Multi-Camera &amp; Docker Deployment — Stage 7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411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510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5486400" cy="5349240"/>
          </a:xfrm>
          <a:prstGeom prst="rect">
            <a:avLst/>
          </a:prstGeom>
          <a:solidFill>
            <a:srgbClr val="1E1F3B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54864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📹  Multi-Camera (cameras.yaml)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5212080" cy="713232"/>
          </a:xfrm>
          <a:prstGeom prst="rect">
            <a:avLst/>
          </a:prstGeom>
          <a:solidFill>
            <a:srgbClr val="131435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459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Gate-1 Camera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92024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rtsp://192.168.1.100/stream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892808"/>
            <a:ext cx="2240280" cy="274320"/>
          </a:xfrm>
          <a:prstGeom prst="rect">
            <a:avLst/>
          </a:prstGeom>
          <a:solidFill>
            <a:srgbClr val="0A1A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8928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requires: helmet, safety_vest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423160"/>
            <a:ext cx="5212080" cy="713232"/>
          </a:xfrm>
          <a:prstGeom prst="rect">
            <a:avLst/>
          </a:prstGeom>
          <a:solidFill>
            <a:srgbClr val="131435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4688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Welding Bay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27432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rtsp://192.168.1.101/stream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2715768"/>
            <a:ext cx="2240280" cy="274320"/>
          </a:xfrm>
          <a:prstGeom prst="rect">
            <a:avLst/>
          </a:prstGeom>
          <a:solidFill>
            <a:srgbClr val="0A1A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71576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requires: helmet, goggles, safety_vest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246120"/>
            <a:ext cx="5212080" cy="713232"/>
          </a:xfrm>
          <a:prstGeom prst="rect">
            <a:avLst/>
          </a:prstGeom>
          <a:solidFill>
            <a:srgbClr val="131435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2918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Exit Zone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356616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/dev/video0 (webcam)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37560" y="3538728"/>
            <a:ext cx="2240280" cy="274320"/>
          </a:xfrm>
          <a:prstGeom prst="rect">
            <a:avLst/>
          </a:prstGeom>
          <a:solidFill>
            <a:srgbClr val="0A1A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53872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requires: helmet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16052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works: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4526280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 per camera — true parallel execution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Auto-restart crashed workers every 10 seconds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cameras write to one SQLite DB (WAL mode)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SIGINT/SIGTERM graceful shutdown handler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Per-camera overrides for PPE rules and thresholds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914400"/>
            <a:ext cx="5577840" cy="5349240"/>
          </a:xfrm>
          <a:prstGeom prst="rect">
            <a:avLst/>
          </a:prstGeom>
          <a:solidFill>
            <a:srgbClr val="1E1F3B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914400"/>
            <a:ext cx="5577840" cy="5486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10058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🐳  Docker Deployment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55080" y="1572768"/>
            <a:ext cx="5303520" cy="1737360"/>
          </a:xfrm>
          <a:prstGeom prst="rect">
            <a:avLst/>
          </a:prstGeom>
          <a:solidFill>
            <a:srgbClr val="080810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1627632"/>
            <a:ext cx="502920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CPU — pipeline + dashboard
</a:t>
            </a:r>
            <a:pPr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
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NVIDIA GPU
</a:t>
            </a:r>
            <a:pPr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-f docker-compose.yml \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-f docker-compose.gpu.yml up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55080" y="3456432"/>
            <a:ext cx="5303520" cy="566928"/>
          </a:xfrm>
          <a:prstGeom prst="rect">
            <a:avLst/>
          </a:prstGeom>
          <a:solidFill>
            <a:srgbClr val="131435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52958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995160" y="354787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build —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458200" y="354787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python:3.11-slim base, runs on any machine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55080" y="4123944"/>
            <a:ext cx="5303520" cy="566928"/>
          </a:xfrm>
          <a:prstGeom prst="rect">
            <a:avLst/>
          </a:prstGeom>
          <a:solidFill>
            <a:srgbClr val="131435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419709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995160" y="42153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GPU —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458200" y="421538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pytorch/pytorch:2.3.0-cuda12.1 base, FP16 inference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355080" y="4791456"/>
            <a:ext cx="5303520" cy="566928"/>
          </a:xfrm>
          <a:prstGeom prst="rect">
            <a:avLst/>
          </a:prstGeom>
          <a:solidFill>
            <a:srgbClr val="131435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48646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995160" y="48828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~160 FPS —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8458200" y="488289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on RTX A5000 — 11× faster than CPU baseline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355080" y="5458968"/>
            <a:ext cx="5303520" cy="566928"/>
          </a:xfrm>
          <a:prstGeom prst="rect">
            <a:avLst/>
          </a:prstGeom>
          <a:solidFill>
            <a:srgbClr val="131435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5532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995160" y="555040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ONNX/TensorRT —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8458200" y="555040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for edge deployment, minimal latency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WhatsApp Alert Integration — Meta Cloud API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510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657600" cy="5394960"/>
          </a:xfrm>
          <a:prstGeom prst="rect">
            <a:avLst/>
          </a:prstGeom>
          <a:solidFill>
            <a:srgbClr val="0A1505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60120"/>
            <a:ext cx="3657600" cy="502920"/>
          </a:xfrm>
          <a:prstGeom prst="rect">
            <a:avLst/>
          </a:prstGeom>
          <a:solidFill>
            <a:srgbClr val="0D2110"/>
          </a:solidFill>
          <a:ln w="12700">
            <a:solidFill>
              <a:srgbClr val="0D211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WhatsApp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600200"/>
            <a:ext cx="3383280" cy="4389120"/>
          </a:xfrm>
          <a:prstGeom prst="rect">
            <a:avLst/>
          </a:prstGeom>
          <a:solidFill>
            <a:srgbClr val="1A2E1A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32004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🚨 PPE VIOLATION ALERT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📍 Gate-1 Camera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👤 Worker ID: W-03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🕐 14:32:11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Missing PPE: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• Helmet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• Safety Vest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⚠️ Severity: CRITICAL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📸 Screenshot attached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🏭 Tata Steel — Zone 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0" y="960120"/>
            <a:ext cx="7223760" cy="969264"/>
          </a:xfrm>
          <a:prstGeom prst="rect">
            <a:avLst/>
          </a:prstGeom>
          <a:solidFill>
            <a:srgbClr val="1E1F3B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960120"/>
            <a:ext cx="64008" cy="9692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014984"/>
            <a:ext cx="6995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 Direct Meta Graph API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139903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Graph API v19.0 directly — no third-party SDK, no Twilio. Zero recurring cost beyond Meta's free tier.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2029968"/>
            <a:ext cx="7223760" cy="969264"/>
          </a:xfrm>
          <a:prstGeom prst="rect">
            <a:avLst/>
          </a:prstGeom>
          <a:solidFill>
            <a:srgbClr val="1E1F3B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2029968"/>
            <a:ext cx="64008" cy="9692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084832"/>
            <a:ext cx="6995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📸  Screenshot attached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24688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includes a JPEG of the violation frame, uploaded via the media API before sending the message.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3099816"/>
            <a:ext cx="7223760" cy="969264"/>
          </a:xfrm>
          <a:prstGeom prst="rect">
            <a:avLst/>
          </a:prstGeom>
          <a:solidFill>
            <a:srgbClr val="1E1F3B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099816"/>
            <a:ext cx="64008" cy="9692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154680"/>
            <a:ext cx="6995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🔕  Smart cooldown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54880" y="353872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 check runs BEFORE media upload — saves API quota. Same worker won't re-alert for 60 seconds.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0" y="4169664"/>
            <a:ext cx="7223760" cy="969264"/>
          </a:xfrm>
          <a:prstGeom prst="rect">
            <a:avLst/>
          </a:prstGeom>
          <a:solidFill>
            <a:srgbClr val="1E1F3B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4169664"/>
            <a:ext cx="64008" cy="9692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4224528"/>
            <a:ext cx="6995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🏷️  Camera label in every alert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54880" y="460857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camera has a configurable label in cameras.yaml. Security team sees exactly which zone triggered the alert.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0" y="5239512"/>
            <a:ext cx="7223760" cy="969264"/>
          </a:xfrm>
          <a:prstGeom prst="rect">
            <a:avLst/>
          </a:prstGeom>
          <a:solidFill>
            <a:srgbClr val="1E1F3B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5239512"/>
            <a:ext cx="64008" cy="9692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5294376"/>
            <a:ext cx="6995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👥  Multi-recipient + groups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54880" y="567842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Comma-separated E.164 phone numbers in .env. Supports group chat IDs for team notifications.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Test Results &amp; Demo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510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5577840" cy="5349240"/>
          </a:xfrm>
          <a:prstGeom prst="rect">
            <a:avLst/>
          </a:prstGeom>
          <a:solidFill>
            <a:srgbClr val="1E1F3B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55778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Verified Results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02920" y="1572768"/>
            <a:ext cx="5303520" cy="804672"/>
          </a:xfrm>
          <a:prstGeom prst="rect">
            <a:avLst/>
          </a:prstGeom>
          <a:solidFill>
            <a:srgbClr val="13143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276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Detection accuracy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5800" y="197510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Helmet, vest, goggles detected correctly on 366 test images at mAP 0.978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2487168"/>
            <a:ext cx="5303520" cy="804672"/>
          </a:xfrm>
          <a:prstGeom prst="rect">
            <a:avLst/>
          </a:prstGeom>
          <a:solidFill>
            <a:srgbClr val="13143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420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Alert latency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5800" y="288950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fired within 8 frames of non-compliance (~0.27 s at 30 FPS)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401568"/>
            <a:ext cx="5303520" cy="804672"/>
          </a:xfrm>
          <a:prstGeom prst="rect">
            <a:avLst/>
          </a:prstGeom>
          <a:solidFill>
            <a:srgbClr val="13143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564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WhatsApp delivery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85800" y="380390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+ screenshot delivered to phone in ~3 seconds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315968"/>
            <a:ext cx="5303520" cy="804672"/>
          </a:xfrm>
          <a:prstGeom prst="rect">
            <a:avLst/>
          </a:prstGeom>
          <a:solidFill>
            <a:srgbClr val="13143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3708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 update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85800" y="471830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pushed new alert to browser in &lt; 0.5 seconds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5230368"/>
            <a:ext cx="5303520" cy="804672"/>
          </a:xfrm>
          <a:prstGeom prst="rect">
            <a:avLst/>
          </a:prstGeom>
          <a:solidFill>
            <a:srgbClr val="131435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2852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📹  Video sources tested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5800" y="563270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(USB), MP4 file (IMG_9343.MOV), RTSP stream (simulated)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914400"/>
            <a:ext cx="5486400" cy="2560320"/>
          </a:xfrm>
          <a:prstGeom prst="rect">
            <a:avLst/>
          </a:prstGeom>
          <a:solidFill>
            <a:srgbClr val="1A080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914400"/>
            <a:ext cx="54864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100584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Known Limitation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46520" y="15087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/ transparent safety goggles are not reliably detected.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46520" y="196596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was trained predominantly on tinted industrial goggles from Roboflow datasets. Clear goggles appear transparent against skin/clothing, lacking the contrast needed for detection.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46520" y="310896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Collect ~100 annotated images of clear goggles → fine-tune 20-30 epochs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09360" y="3703320"/>
            <a:ext cx="5486400" cy="2514600"/>
          </a:xfrm>
          <a:prstGeom prst="rect">
            <a:avLst/>
          </a:prstGeom>
          <a:solidFill>
            <a:srgbClr val="1E1F3B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3703320"/>
            <a:ext cx="54864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37947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🖥️  Test Environment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46520" y="42793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66760" y="42793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MacBook Pro M1 Pro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46520" y="46725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66760" y="467258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14 (Sonoma)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46520" y="50657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366760" y="506577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3.12.2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46520" y="54589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PyTorch: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366760" y="545896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2.9.0 (CPU / MPS)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46520" y="58521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366760" y="58521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 ms/image on CPU (M1 Pro)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548640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510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5577840" cy="5349240"/>
          </a:xfrm>
          <a:prstGeom prst="rect">
            <a:avLst/>
          </a:prstGeom>
          <a:solidFill>
            <a:srgbClr val="1E1F3B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14400"/>
            <a:ext cx="55778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058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Achievements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1691640"/>
            <a:ext cx="320040" cy="320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91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1645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7-stage system built end-to-end and deployed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267712"/>
            <a:ext cx="320040" cy="320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677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2219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 = 0.978 on 366-image test set (Precision 0.980, Recall 0.970)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843784"/>
            <a:ext cx="320040" cy="320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437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79806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violation alerts with &lt; 1-second pipeline latency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419856"/>
            <a:ext cx="320040" cy="320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198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37413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support via cameras.yaml — auto-restart on crash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3995928"/>
            <a:ext cx="320040" cy="320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959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9502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CPU + NVIDIA GPU builds with FP16 / TensorRT export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4572000"/>
            <a:ext cx="320040" cy="320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572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4526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integration via Meta Cloud API — screenshot + message in 3s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5148072"/>
            <a:ext cx="320040" cy="320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51480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0120" y="51023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FastAPI dashboard with WebSocket, dark SPA — no build step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2920" y="5724144"/>
            <a:ext cx="320040" cy="320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57241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" y="567842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SQLite WAL logging with sessions + violations tables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09360" y="914400"/>
            <a:ext cx="5486400" cy="3657600"/>
          </a:xfrm>
          <a:prstGeom prst="rect">
            <a:avLst/>
          </a:prstGeom>
          <a:solidFill>
            <a:srgbClr val="1E1F3B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09360" y="914400"/>
            <a:ext cx="54864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10058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Future Work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400800" y="160934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949440" y="160934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multi-object tracking for stable, persistent worker IDs across frames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00800" y="220370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949440" y="220370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Zone-specific PPE rules — welding bay requires goggles, general floor requires helmet + vest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00800" y="279806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👓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949440" y="279806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with clear/transparent goggles — collect ~100 annotated images, fine-tune 20-30 epochs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00800" y="339242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949440" y="339242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for multi-site deployments — replace SQLite when scaling across factories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400800" y="398678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6949440" y="398678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security supervisors with push notifications and real-time camera switching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309360" y="4754880"/>
            <a:ext cx="5486400" cy="1508760"/>
          </a:xfrm>
          <a:prstGeom prst="rect">
            <a:avLst/>
          </a:prstGeom>
          <a:solidFill>
            <a:srgbClr val="0A0A20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4846320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github.com/bytebender77/PPE-compliance-monitoring-system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400800" y="53492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Kunal Kumar Gupta  ·  23MC3035  ·  M.Tech CSE  ·  RGIPT  ·  2026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400800" y="5715000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PPE Compliance Monitoring System</dc:title>
  <dc:subject>PptxGenJS Presentation</dc:subject>
  <dc:creator>Kunal Kumar Gupta</dc:creator>
  <cp:lastModifiedBy>Kunal Kumar Gupta</cp:lastModifiedBy>
  <cp:revision>1</cp:revision>
  <dcterms:created xsi:type="dcterms:W3CDTF">2026-05-27T20:10:37Z</dcterms:created>
  <dcterms:modified xsi:type="dcterms:W3CDTF">2026-05-27T20:10:37Z</dcterms:modified>
</cp:coreProperties>
</file>